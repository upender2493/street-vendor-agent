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3423525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815294">
                  <a:extLst>
                    <a:ext uri="{9D8B030D-6E8A-4147-A177-3AD203B41FA5}">
                      <a16:colId xmlns:a16="http://schemas.microsoft.com/office/drawing/2014/main" val="20003"/>
                    </a:ext>
                  </a:extLst>
                </a:gridCol>
                <a:gridCol w="207145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UPENDER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a:t>upenderrajput2903@gmail.com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8375948836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82A37FB6-8174-8FF6-900A-70D2341A8D1A}"/>
              </a:ext>
            </a:extLst>
          </p:cNvPr>
          <p:cNvPicPr>
            <a:picLocks noChangeAspect="1"/>
          </p:cNvPicPr>
          <p:nvPr/>
        </p:nvPicPr>
        <p:blipFill>
          <a:blip r:embed="rId3"/>
          <a:stretch>
            <a:fillRect/>
          </a:stretch>
        </p:blipFill>
        <p:spPr>
          <a:xfrm>
            <a:off x="4010619" y="3683879"/>
            <a:ext cx="1110021" cy="940721"/>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r>
              <a:rPr lang="en-IN" sz="1200" b="1" dirty="0"/>
              <a:t>Problem Statement : Street Vendor Digitalization Agent</a:t>
            </a:r>
          </a:p>
          <a:p>
            <a:r>
              <a:rPr lang="en-IN" sz="1200" b="1" dirty="0"/>
              <a:t>The Challenge</a:t>
            </a:r>
          </a:p>
          <a:p>
            <a:r>
              <a:rPr lang="en-IN" sz="1200" dirty="0"/>
              <a:t>Local hawkers and micro-entrepreneurs often struggle to build a strong </a:t>
            </a:r>
            <a:r>
              <a:rPr lang="en-IN" sz="1200" b="1" dirty="0"/>
              <a:t>digital presence</a:t>
            </a:r>
            <a:r>
              <a:rPr lang="en-IN" sz="1200" dirty="0"/>
              <a:t>, attract online customers, manage digital payments, and access reliable information about government schemes and business opportunities. Information about </a:t>
            </a:r>
            <a:r>
              <a:rPr lang="en-IN" sz="1200" b="1" dirty="0"/>
              <a:t>digital onboarding, UPI payments, local SEO, MSME schemes, and customer engagement</a:t>
            </a:r>
            <a:r>
              <a:rPr lang="en-IN" sz="1200" dirty="0"/>
              <a:t> is scattered across different platforms and sources.</a:t>
            </a:r>
          </a:p>
          <a:p>
            <a:r>
              <a:rPr lang="en-IN" sz="1200" dirty="0"/>
              <a:t>Without simple, accessible, and practical digital guidance, many informal businesses remain invisible in the online economy and may miss opportunities to </a:t>
            </a:r>
            <a:r>
              <a:rPr lang="en-IN" sz="1200" b="1" dirty="0"/>
              <a:t>increase visibility, reach new customers, and access formal financial services</a:t>
            </a:r>
            <a:r>
              <a:rPr lang="en-IN" sz="1200" dirty="0"/>
              <a:t>.</a:t>
            </a:r>
          </a:p>
          <a:p>
            <a:r>
              <a:rPr lang="en-IN" sz="1200" b="1" dirty="0"/>
              <a:t>The Objective</a:t>
            </a:r>
          </a:p>
          <a:p>
            <a:r>
              <a:rPr lang="en-IN" sz="1200" dirty="0"/>
              <a:t>Build a </a:t>
            </a:r>
            <a:r>
              <a:rPr lang="en-IN" sz="1200" b="1" dirty="0"/>
              <a:t>RAG-powered Street Vendor Digitalization Agent</a:t>
            </a:r>
            <a:r>
              <a:rPr lang="en-IN" sz="1200" dirty="0"/>
              <a:t> that provides practical digital-business guidance for local hawkers and micro-entrepreneurs. The solution should:</a:t>
            </a:r>
          </a:p>
          <a:p>
            <a:r>
              <a:rPr lang="en-IN" sz="1200" b="1" dirty="0"/>
              <a:t>Business Profile Generation</a:t>
            </a:r>
            <a:r>
              <a:rPr lang="en-IN" sz="1200" dirty="0"/>
              <a:t> – Create a practical digital business profile based on the vendor's business type, products/services, and location.</a:t>
            </a:r>
          </a:p>
          <a:p>
            <a:r>
              <a:rPr lang="en-IN" sz="1200" b="1" dirty="0"/>
              <a:t>Digital Payment Guidance</a:t>
            </a:r>
            <a:r>
              <a:rPr lang="en-IN" sz="1200" dirty="0"/>
              <a:t> – Provide step-by-step guidance for </a:t>
            </a:r>
            <a:r>
              <a:rPr lang="en-IN" sz="1200" b="1" dirty="0"/>
              <a:t>UPI, QR-code setup, and digital payment onboarding</a:t>
            </a:r>
            <a:r>
              <a:rPr lang="en-IN" sz="1200" dirty="0"/>
              <a:t>.</a:t>
            </a:r>
          </a:p>
          <a:p>
            <a:r>
              <a:rPr lang="en-IN" sz="1200" b="1" dirty="0"/>
              <a:t>Local SEO &amp; Online Visibility</a:t>
            </a:r>
            <a:r>
              <a:rPr lang="en-IN" sz="1200" dirty="0"/>
              <a:t> – Suggest strategies to improve local search visibility and help vendors understand suitable online listing platforms.</a:t>
            </a:r>
          </a:p>
          <a:p>
            <a:r>
              <a:rPr lang="en-IN" sz="1200" b="1" dirty="0"/>
              <a:t>Government &amp; MSME Information RAG Retrieval</a:t>
            </a:r>
            <a:r>
              <a:rPr lang="en-IN" sz="1200" dirty="0"/>
              <a:t> – Retrieve and summarize relevant information about </a:t>
            </a:r>
            <a:r>
              <a:rPr lang="en-IN" sz="1200" b="1" dirty="0"/>
              <a:t>government policies, MSME schemes, and digital-business support</a:t>
            </a:r>
            <a:r>
              <a:rPr lang="en-IN" sz="1200" dirty="0"/>
              <a:t> from reliable sources.</a:t>
            </a:r>
          </a:p>
          <a:p>
            <a:r>
              <a:rPr lang="en-IN" sz="1200" b="1" dirty="0"/>
              <a:t>Customer Engagement &amp; Marketing</a:t>
            </a:r>
            <a:r>
              <a:rPr lang="en-IN" sz="1200" dirty="0"/>
              <a:t> – Provide practical promotional ideas, customer engagement tips, and marketing suggestions suitable for local businesses.</a:t>
            </a:r>
          </a:p>
          <a:p>
            <a:r>
              <a:rPr lang="en-IN" sz="1200" b="1" dirty="0"/>
              <a:t>Hyperlocal Business Support</a:t>
            </a:r>
            <a:r>
              <a:rPr lang="en-IN" sz="1200" dirty="0"/>
              <a:t> – Use the vendor's </a:t>
            </a:r>
            <a:r>
              <a:rPr lang="en-IN" sz="1200" b="1" dirty="0"/>
              <a:t>business type and location</a:t>
            </a:r>
            <a:r>
              <a:rPr lang="en-IN" sz="1200" dirty="0"/>
              <a:t> to provide relevant suggestions for reaching nearby customers and improving local visibility.</a:t>
            </a:r>
          </a:p>
          <a:p>
            <a:r>
              <a:rPr lang="en-IN" sz="1200" b="1" dirty="0"/>
              <a:t>Multilingual Assistance</a:t>
            </a:r>
            <a:r>
              <a:rPr lang="en-IN" sz="1200" dirty="0"/>
              <a:t> – Provide guidance in </a:t>
            </a:r>
            <a:r>
              <a:rPr lang="en-IN" sz="1200" b="1" dirty="0"/>
              <a:t>Hindi, Hinglish, or English</a:t>
            </a:r>
            <a:r>
              <a:rPr lang="en-IN" sz="1200" dirty="0"/>
              <a:t>, making digital tools easier to understand for vendors with different levels of digital literacy.</a:t>
            </a:r>
          </a:p>
          <a:p>
            <a:r>
              <a:rPr lang="en-IN" sz="1200" b="1" dirty="0"/>
              <a:t>RAG-Based Knowledge Retrieval</a:t>
            </a:r>
            <a:r>
              <a:rPr lang="en-IN" sz="1200" dirty="0"/>
              <a:t> – Retrieve relevant information from a curated knowledge base before generating responses, helping reduce unsupported or fabricated information.</a:t>
            </a:r>
          </a:p>
          <a:p>
            <a:r>
              <a:rPr lang="en-IN" sz="1200" b="1" dirty="0"/>
              <a:t>Responsible AI Guidance</a:t>
            </a:r>
            <a:r>
              <a:rPr lang="en-IN" sz="1200" dirty="0"/>
              <a:t> – Avoid inventing government schemes, eligibility criteria, prices, guarantees, or other factual information and encourage verification through official sources when required.</a:t>
            </a:r>
          </a:p>
          <a:p>
            <a:r>
              <a:rPr lang="en-IN" sz="1200" b="1" dirty="0"/>
              <a:t>Digital Growth Support</a:t>
            </a:r>
            <a:r>
              <a:rPr lang="en-IN" sz="1200" dirty="0"/>
              <a:t> – Help informal businesses strengthen their online presence, improve customer reach, and participate more effectively in the </a:t>
            </a:r>
            <a:r>
              <a:rPr lang="en-IN" sz="1200" b="1" dirty="0"/>
              <a:t>hyperlocal digital economy</a:t>
            </a:r>
            <a:r>
              <a:rPr lang="en-IN" sz="1200" dirty="0"/>
              <a: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69472" y="1234440"/>
            <a:ext cx="10820241" cy="4770537"/>
          </a:xfrm>
          <a:prstGeom prst="rect">
            <a:avLst/>
          </a:prstGeom>
          <a:noFill/>
        </p:spPr>
        <p:txBody>
          <a:bodyPr wrap="square" rtlCol="0">
            <a:spAutoFit/>
          </a:bodyPr>
          <a:lstStyle/>
          <a:p>
            <a:r>
              <a:rPr lang="en-IN" sz="1800" b="1" dirty="0"/>
              <a:t>Proposed Solution: AI-Powered Street Vendor Digitalization Agent</a:t>
            </a:r>
          </a:p>
          <a:p>
            <a:r>
              <a:rPr lang="en-IN" sz="1600" dirty="0"/>
              <a:t>The proposed solution is a </a:t>
            </a:r>
            <a:r>
              <a:rPr lang="en-IN" sz="1600" b="1" dirty="0"/>
              <a:t>RAG-powered AI agent</a:t>
            </a:r>
            <a:r>
              <a:rPr lang="en-IN" sz="1600" dirty="0"/>
              <a:t> built using </a:t>
            </a:r>
            <a:r>
              <a:rPr lang="en-IN" sz="1600" b="1" dirty="0"/>
              <a:t>IBM Bob, IBM watsonx.ai, and IBM Granite</a:t>
            </a:r>
            <a:r>
              <a:rPr lang="en-IN" sz="1600" dirty="0"/>
              <a:t> to help street vendors and micro-entrepreneurs grow digitally.</a:t>
            </a:r>
          </a:p>
          <a:p>
            <a:endParaRPr lang="en-IN" sz="1600" dirty="0"/>
          </a:p>
          <a:p>
            <a:r>
              <a:rPr lang="en-IN" sz="1600" dirty="0"/>
              <a:t>The system uses </a:t>
            </a:r>
            <a:r>
              <a:rPr lang="en-IN" sz="1600" b="1" dirty="0"/>
              <a:t>RAG</a:t>
            </a:r>
            <a:r>
              <a:rPr lang="en-IN" sz="1600" dirty="0"/>
              <a:t> to retrieve relevant information from a curated knowledge base covering digital payments, local SEO, government/MSME schemes, marketing, pricing, and business growth.</a:t>
            </a:r>
          </a:p>
          <a:p>
            <a:r>
              <a:rPr lang="en-IN" sz="1600" dirty="0"/>
              <a:t>The solution provides key capabilities:</a:t>
            </a:r>
          </a:p>
          <a:p>
            <a:endParaRPr lang="en-IN" sz="1600" dirty="0"/>
          </a:p>
          <a:p>
            <a:pPr marL="285750" lvl="0" indent="-285750">
              <a:buFont typeface="Arial" panose="020B0604020202020204" pitchFamily="34" charset="0"/>
              <a:buChar char="•"/>
            </a:pPr>
            <a:r>
              <a:rPr lang="en-IN" sz="1600" b="1" dirty="0"/>
              <a:t>Business Profile Generation</a:t>
            </a:r>
            <a:r>
              <a:rPr lang="en-IN" sz="1600" dirty="0"/>
              <a:t> – Create digital business profiles based on business type and location. </a:t>
            </a:r>
          </a:p>
          <a:p>
            <a:pPr marL="285750" lvl="0" indent="-285750">
              <a:buFont typeface="Arial" panose="020B0604020202020204" pitchFamily="34" charset="0"/>
              <a:buChar char="•"/>
            </a:pPr>
            <a:r>
              <a:rPr lang="en-IN" sz="1600" b="1" dirty="0"/>
              <a:t>UPI &amp; Digital Payments</a:t>
            </a:r>
            <a:r>
              <a:rPr lang="en-IN" sz="1600" dirty="0"/>
              <a:t> – Provide simple guidance for UPI and QR-code setup. </a:t>
            </a:r>
          </a:p>
          <a:p>
            <a:pPr marL="285750" lvl="0" indent="-285750">
              <a:buFont typeface="Arial" panose="020B0604020202020204" pitchFamily="34" charset="0"/>
              <a:buChar char="•"/>
            </a:pPr>
            <a:r>
              <a:rPr lang="en-IN" sz="1600" b="1" dirty="0"/>
              <a:t>Local SEO &amp; Online Visibility</a:t>
            </a:r>
            <a:r>
              <a:rPr lang="en-IN" sz="1600" dirty="0"/>
              <a:t> – Help vendors improve local search presence and reach nearby customers. </a:t>
            </a:r>
          </a:p>
          <a:p>
            <a:pPr marL="285750" lvl="0" indent="-285750">
              <a:buFont typeface="Arial" panose="020B0604020202020204" pitchFamily="34" charset="0"/>
              <a:buChar char="•"/>
            </a:pPr>
            <a:r>
              <a:rPr lang="en-IN" sz="1600" b="1" dirty="0"/>
              <a:t>Government &amp; MSME Information</a:t>
            </a:r>
            <a:r>
              <a:rPr lang="en-IN" sz="1600" dirty="0"/>
              <a:t> – Provide relevant scheme and business-support information. </a:t>
            </a:r>
          </a:p>
          <a:p>
            <a:pPr marL="285750" lvl="0" indent="-285750">
              <a:buFont typeface="Arial" panose="020B0604020202020204" pitchFamily="34" charset="0"/>
              <a:buChar char="•"/>
            </a:pPr>
            <a:r>
              <a:rPr lang="en-IN" sz="1600" b="1" dirty="0"/>
              <a:t>Marketing &amp; Customer Engagement</a:t>
            </a:r>
            <a:r>
              <a:rPr lang="en-IN" sz="1600" dirty="0"/>
              <a:t> – Suggest practical promotional and customer-retention strategies. </a:t>
            </a:r>
          </a:p>
          <a:p>
            <a:pPr marL="285750" lvl="0" indent="-285750">
              <a:buFont typeface="Arial" panose="020B0604020202020204" pitchFamily="34" charset="0"/>
              <a:buChar char="•"/>
            </a:pPr>
            <a:r>
              <a:rPr lang="en-IN" sz="1600" b="1" dirty="0"/>
              <a:t>Multilingual Support</a:t>
            </a:r>
            <a:r>
              <a:rPr lang="en-IN" sz="1600" dirty="0"/>
              <a:t> – Provide guidance in </a:t>
            </a:r>
            <a:r>
              <a:rPr lang="en-IN" sz="1600" b="1" dirty="0"/>
              <a:t>Hindi, Hinglish, and English</a:t>
            </a:r>
            <a:r>
              <a:rPr lang="en-IN" sz="1600" dirty="0"/>
              <a:t>. </a:t>
            </a:r>
          </a:p>
          <a:p>
            <a:pPr marL="285750" lvl="0" indent="-285750">
              <a:buFont typeface="Arial" panose="020B0604020202020204" pitchFamily="34" charset="0"/>
              <a:buChar char="•"/>
            </a:pPr>
            <a:r>
              <a:rPr lang="en-IN" sz="1600" b="1" dirty="0"/>
              <a:t>RAG-Based Responses</a:t>
            </a:r>
            <a:r>
              <a:rPr lang="en-IN" sz="1600" dirty="0"/>
              <a:t> – Retrieve relevant knowledge before generating answers to improve reliability. </a:t>
            </a:r>
          </a:p>
          <a:p>
            <a:pPr lvl="0"/>
            <a:endParaRPr lang="en-IN" sz="1600" dirty="0"/>
          </a:p>
          <a:p>
            <a:r>
              <a:rPr lang="en-IN" sz="1600" dirty="0"/>
              <a:t>The solution includes a </a:t>
            </a:r>
            <a:r>
              <a:rPr lang="en-IN" sz="1600" b="1" dirty="0"/>
              <a:t>user-friendly </a:t>
            </a:r>
            <a:r>
              <a:rPr lang="en-IN" sz="1600" b="1" dirty="0" err="1"/>
              <a:t>Streamlit</a:t>
            </a:r>
            <a:r>
              <a:rPr lang="en-IN" sz="1600" b="1" dirty="0"/>
              <a:t> dashboard</a:t>
            </a:r>
            <a:r>
              <a:rPr lang="en-IN" sz="1600" dirty="0"/>
              <a:t> for vendor onboarding, AI chat, business profile, UPI, SEO, marketing, and growth guidance.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62760"/>
          </a:xfrm>
          <a:prstGeom prst="rect">
            <a:avLst/>
          </a:prstGeom>
          <a:noFill/>
        </p:spPr>
        <p:txBody>
          <a:bodyPr wrap="square" rtlCol="0">
            <a:spAutoFit/>
          </a:bodyPr>
          <a:lstStyle/>
          <a:p>
            <a:r>
              <a:rPr lang="en-IN" sz="1800" dirty="0"/>
              <a:t>• </a:t>
            </a:r>
            <a:r>
              <a:rPr lang="en-IN" sz="1800" b="1" dirty="0"/>
              <a:t>IBM Bob platform</a:t>
            </a:r>
            <a:r>
              <a:rPr lang="en-IN" sz="1800" dirty="0"/>
              <a:t> – For designing, developing, and refining the AI agent workflow.</a:t>
            </a:r>
          </a:p>
          <a:p>
            <a:endParaRPr lang="en-IN" sz="1800" dirty="0"/>
          </a:p>
          <a:p>
            <a:r>
              <a:rPr lang="en-IN" sz="1800" dirty="0"/>
              <a:t>• </a:t>
            </a:r>
            <a:r>
              <a:rPr lang="en-IN" sz="1800" b="1" dirty="0"/>
              <a:t>IBM Granite Model</a:t>
            </a:r>
            <a:r>
              <a:rPr lang="en-IN" sz="1800" dirty="0"/>
              <a:t> – </a:t>
            </a:r>
            <a:r>
              <a:rPr lang="en-IN" sz="1800" b="1" dirty="0" err="1"/>
              <a:t>ibm</a:t>
            </a:r>
            <a:r>
              <a:rPr lang="en-IN" sz="1800" b="1" dirty="0"/>
              <a:t>/granite-3-8b-instruct</a:t>
            </a:r>
            <a:r>
              <a:rPr lang="en-IN" sz="1800" dirty="0"/>
              <a:t> – For natural language understanding, reasoning, and response generation.</a:t>
            </a:r>
          </a:p>
          <a:p>
            <a:endParaRPr lang="en-IN" sz="1800" dirty="0"/>
          </a:p>
          <a:p>
            <a:r>
              <a:rPr lang="en-IN" sz="1800" dirty="0"/>
              <a:t>• </a:t>
            </a:r>
            <a:r>
              <a:rPr lang="en-IN" sz="1800" b="1" dirty="0"/>
              <a:t>IBM Cloud</a:t>
            </a:r>
            <a:r>
              <a:rPr lang="en-IN" sz="1800" dirty="0"/>
              <a:t> – Provides the infrastructure to build, deploy, and run the </a:t>
            </a:r>
            <a:r>
              <a:rPr lang="en-IN" sz="1800" dirty="0" err="1"/>
              <a:t>VendorSetu</a:t>
            </a:r>
            <a:r>
              <a:rPr lang="en-IN" sz="1800" dirty="0"/>
              <a:t> AI solution.</a:t>
            </a:r>
          </a:p>
          <a:p>
            <a:endParaRPr lang="en-IN" sz="1800" dirty="0"/>
          </a:p>
          <a:p>
            <a:r>
              <a:rPr lang="en-IN" sz="1800" dirty="0"/>
              <a:t>• </a:t>
            </a:r>
            <a:r>
              <a:rPr lang="en-IN" sz="1800" b="1" dirty="0"/>
              <a:t>RAG</a:t>
            </a:r>
            <a:r>
              <a:rPr lang="en-IN" sz="1800" dirty="0"/>
              <a:t> – Retrieves relevant business information first, then generates </a:t>
            </a:r>
            <a:r>
              <a:rPr lang="en-IN" sz="1800" b="1" dirty="0"/>
              <a:t>grounded and reliable answers</a:t>
            </a:r>
            <a:r>
              <a:rPr lang="en-IN" sz="1800" dirty="0"/>
              <a:t>.</a:t>
            </a:r>
          </a:p>
          <a:p>
            <a:endParaRPr lang="en-IN" sz="1800" dirty="0"/>
          </a:p>
          <a:p>
            <a:r>
              <a:rPr lang="en-IN" sz="1800" dirty="0"/>
              <a:t>• </a:t>
            </a:r>
            <a:r>
              <a:rPr lang="en-IN" sz="1800" b="1" dirty="0"/>
              <a:t>IBM watsonx.ai</a:t>
            </a:r>
            <a:r>
              <a:rPr lang="en-IN" sz="1800" dirty="0"/>
              <a:t> – For Granite model integration and AI development.</a:t>
            </a:r>
          </a:p>
          <a:p>
            <a:endParaRPr lang="en-IN" sz="1800" dirty="0"/>
          </a:p>
          <a:p>
            <a:r>
              <a:rPr lang="en-IN" sz="1800" dirty="0"/>
              <a:t>• </a:t>
            </a:r>
            <a:r>
              <a:rPr lang="en-IN" sz="1800" b="1" dirty="0"/>
              <a:t>TF-IDF + Cosine Similarity</a:t>
            </a:r>
            <a:r>
              <a:rPr lang="en-IN" sz="1800" dirty="0"/>
              <a:t> – For efficient RAG-based retrieval from the vendor knowledge base.</a:t>
            </a:r>
          </a:p>
          <a:p>
            <a:endParaRPr lang="en-IN" sz="1800" dirty="0"/>
          </a:p>
          <a:p>
            <a:r>
              <a:rPr lang="en-IN" sz="1800" dirty="0"/>
              <a:t>• </a:t>
            </a:r>
            <a:r>
              <a:rPr lang="en-IN" sz="1800" b="1" dirty="0"/>
              <a:t>Python &amp; </a:t>
            </a:r>
            <a:r>
              <a:rPr lang="en-IN" sz="1800" b="1" dirty="0" err="1"/>
              <a:t>Streamlit</a:t>
            </a:r>
            <a:r>
              <a:rPr lang="en-IN" sz="1800" dirty="0"/>
              <a:t> – For application development and the user-friendly dashboard.</a:t>
            </a:r>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39A05565-987C-252A-AA43-FD4782A5CC2A}"/>
              </a:ext>
            </a:extLst>
          </p:cNvPr>
          <p:cNvPicPr>
            <a:picLocks noChangeAspect="1"/>
          </p:cNvPicPr>
          <p:nvPr/>
        </p:nvPicPr>
        <p:blipFill>
          <a:blip r:embed="rId3"/>
          <a:stretch>
            <a:fillRect/>
          </a:stretch>
        </p:blipFill>
        <p:spPr>
          <a:xfrm>
            <a:off x="537590" y="857051"/>
            <a:ext cx="11239882" cy="5777374"/>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C706C22A-A386-D24A-9033-ED2037F94253}"/>
              </a:ext>
            </a:extLst>
          </p:cNvPr>
          <p:cNvPicPr>
            <a:picLocks noChangeAspect="1"/>
          </p:cNvPicPr>
          <p:nvPr/>
        </p:nvPicPr>
        <p:blipFill>
          <a:blip r:embed="rId3"/>
          <a:stretch>
            <a:fillRect/>
          </a:stretch>
        </p:blipFill>
        <p:spPr>
          <a:xfrm>
            <a:off x="537590" y="771748"/>
            <a:ext cx="11148442" cy="5763014"/>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78C3F8-F741-2EB0-8BEB-0DFCCAA683B2}"/>
              </a:ext>
            </a:extLst>
          </p:cNvPr>
          <p:cNvPicPr>
            <a:picLocks noChangeAspect="1"/>
          </p:cNvPicPr>
          <p:nvPr/>
        </p:nvPicPr>
        <p:blipFill>
          <a:blip r:embed="rId2"/>
          <a:stretch>
            <a:fillRect/>
          </a:stretch>
        </p:blipFill>
        <p:spPr>
          <a:xfrm>
            <a:off x="508973" y="369934"/>
            <a:ext cx="11174053" cy="6277754"/>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487202E3-FCA6-A6DE-577E-F23B49726EE6}"/>
              </a:ext>
            </a:extLst>
          </p:cNvPr>
          <p:cNvPicPr>
            <a:picLocks noChangeAspect="1"/>
          </p:cNvPicPr>
          <p:nvPr/>
        </p:nvPicPr>
        <p:blipFill>
          <a:blip r:embed="rId3"/>
          <a:stretch>
            <a:fillRect/>
          </a:stretch>
        </p:blipFill>
        <p:spPr>
          <a:xfrm>
            <a:off x="147410" y="771746"/>
            <a:ext cx="11931814" cy="5967381"/>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739759"/>
          </a:xfrm>
          <a:prstGeom prst="rect">
            <a:avLst/>
          </a:prstGeom>
          <a:noFill/>
        </p:spPr>
        <p:txBody>
          <a:bodyPr wrap="square" rtlCol="0">
            <a:spAutoFit/>
          </a:bodyPr>
          <a:lstStyle/>
          <a:p>
            <a:r>
              <a:rPr lang="en-IN" sz="1600" b="1" dirty="0"/>
              <a:t>Role of Agentic AI in </a:t>
            </a:r>
            <a:r>
              <a:rPr lang="en-IN" sz="1600" b="1" dirty="0" err="1"/>
              <a:t>VendorSetu</a:t>
            </a:r>
            <a:r>
              <a:rPr lang="en-IN" sz="1600" b="1" dirty="0"/>
              <a:t> AI</a:t>
            </a:r>
          </a:p>
          <a:p>
            <a:endParaRPr lang="en-IN" sz="1600" b="1" dirty="0"/>
          </a:p>
          <a:p>
            <a:pPr marL="285750" indent="-285750">
              <a:buFont typeface="Arial" panose="020B0604020202020204" pitchFamily="34" charset="0"/>
              <a:buChar char="•"/>
            </a:pPr>
            <a:r>
              <a:rPr lang="en-IN" sz="1600" b="1" dirty="0"/>
              <a:t>Agentic AI</a:t>
            </a:r>
            <a:r>
              <a:rPr lang="en-IN" sz="1600" dirty="0"/>
              <a:t> enables </a:t>
            </a:r>
            <a:r>
              <a:rPr lang="en-IN" sz="1600" dirty="0" err="1"/>
              <a:t>VendorSetu</a:t>
            </a:r>
            <a:r>
              <a:rPr lang="en-IN" sz="1600" dirty="0"/>
              <a:t> AI to function as an intelligent, task-oriented system rather than a simple chatbot. Using </a:t>
            </a:r>
            <a:r>
              <a:rPr lang="en-IN" sz="1600" b="1" dirty="0"/>
              <a:t>IBM watsonx.ai</a:t>
            </a:r>
            <a:r>
              <a:rPr lang="en-IN" sz="1600" dirty="0"/>
              <a:t> and </a:t>
            </a:r>
            <a:r>
              <a:rPr lang="en-IN" sz="1600" b="1" dirty="0"/>
              <a:t>IBM Granite</a:t>
            </a:r>
            <a:r>
              <a:rPr lang="en-IN" sz="1600" dirty="0"/>
              <a:t>, it coordinates different business-support workflows to provide practical digitalization guidance.</a:t>
            </a:r>
          </a:p>
          <a:p>
            <a:pPr marL="285750" indent="-285750">
              <a:buFont typeface="Arial" panose="020B0604020202020204" pitchFamily="34" charset="0"/>
              <a:buChar char="•"/>
            </a:pPr>
            <a:r>
              <a:rPr lang="en-IN" sz="1600" dirty="0"/>
              <a:t>Each workflow performs a specific role—such as creating business profiles, providing UPI guidance, improving local SEO, accessing government/MSME information, and suggesting marketing strategies.</a:t>
            </a:r>
          </a:p>
          <a:p>
            <a:pPr marL="285750" indent="-285750">
              <a:buFont typeface="Arial" panose="020B0604020202020204" pitchFamily="34" charset="0"/>
              <a:buChar char="•"/>
            </a:pPr>
            <a:r>
              <a:rPr lang="en-IN" sz="1600" dirty="0"/>
              <a:t>Agentic AI also provides </a:t>
            </a:r>
            <a:r>
              <a:rPr lang="en-IN" sz="1600" b="1" dirty="0"/>
              <a:t>context awareness</a:t>
            </a:r>
            <a:r>
              <a:rPr lang="en-IN" sz="1600" dirty="0"/>
              <a:t>, using details such as the vendor's </a:t>
            </a:r>
            <a:r>
              <a:rPr lang="en-IN" sz="1600" b="1" dirty="0"/>
              <a:t>business type, services/products, and location</a:t>
            </a:r>
            <a:r>
              <a:rPr lang="en-IN" sz="1600" dirty="0"/>
              <a:t> to generate relevant recommendations.</a:t>
            </a:r>
          </a:p>
          <a:p>
            <a:pPr marL="285750" indent="-285750">
              <a:buFont typeface="Arial" panose="020B0604020202020204" pitchFamily="34" charset="0"/>
              <a:buChar char="•"/>
            </a:pPr>
            <a:r>
              <a:rPr lang="en-IN" sz="1600" dirty="0"/>
              <a:t>The system uses </a:t>
            </a:r>
            <a:r>
              <a:rPr lang="en-IN" sz="1600" b="1" dirty="0"/>
              <a:t>RAG</a:t>
            </a:r>
            <a:r>
              <a:rPr lang="en-IN" sz="1600" dirty="0"/>
              <a:t> to retrieve relevant information before generating responses, helping provide more grounded and reliable guidance.</a:t>
            </a:r>
          </a:p>
          <a:p>
            <a:pPr marL="285750" indent="-285750">
              <a:buFont typeface="Arial" panose="020B0604020202020204" pitchFamily="34" charset="0"/>
              <a:buChar char="•"/>
            </a:pPr>
            <a:endParaRPr lang="en-IN" sz="1600" dirty="0"/>
          </a:p>
          <a:p>
            <a:r>
              <a:rPr lang="en-IN" sz="1600" dirty="0"/>
              <a:t>Overall, Agentic AI makes </a:t>
            </a:r>
            <a:r>
              <a:rPr lang="en-IN" sz="1600" dirty="0" err="1"/>
              <a:t>VendorSetu</a:t>
            </a:r>
            <a:r>
              <a:rPr lang="en-IN" sz="1600" dirty="0"/>
              <a:t> AI </a:t>
            </a:r>
            <a:r>
              <a:rPr lang="en-IN" sz="1600" b="1" dirty="0"/>
              <a:t>practical, personalized, and goal-driven</a:t>
            </a:r>
            <a:r>
              <a:rPr lang="en-IN" sz="1600" dirty="0"/>
              <a:t>, helping local businesses improve their </a:t>
            </a:r>
            <a:r>
              <a:rPr lang="en-IN" sz="1600" b="1" dirty="0"/>
              <a:t>digital visibility, customer reach, and business growth</a:t>
            </a:r>
            <a:r>
              <a:rPr lang="en-IN" sz="1600" dirty="0"/>
              <a:t>.</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2F19892A-1BA9-FA30-4DE8-851781D9CD06}"/>
              </a:ext>
            </a:extLst>
          </p:cNvPr>
          <p:cNvPicPr>
            <a:picLocks noChangeAspect="1"/>
          </p:cNvPicPr>
          <p:nvPr/>
        </p:nvPicPr>
        <p:blipFill>
          <a:blip r:embed="rId3"/>
          <a:stretch>
            <a:fillRect/>
          </a:stretch>
        </p:blipFill>
        <p:spPr>
          <a:xfrm>
            <a:off x="6466883" y="2436265"/>
            <a:ext cx="4854361" cy="3322608"/>
          </a:xfrm>
          <a:prstGeom prst="rect">
            <a:avLst/>
          </a:prstGeom>
        </p:spPr>
      </p:pic>
      <p:pic>
        <p:nvPicPr>
          <p:cNvPr id="32" name="Picture 31">
            <a:extLst>
              <a:ext uri="{FF2B5EF4-FFF2-40B4-BE49-F238E27FC236}">
                <a16:creationId xmlns:a16="http://schemas.microsoft.com/office/drawing/2014/main" id="{9D5601FD-EC9F-E303-5DA2-72B306ED8FAD}"/>
              </a:ext>
            </a:extLst>
          </p:cNvPr>
          <p:cNvPicPr>
            <a:picLocks noChangeAspect="1"/>
          </p:cNvPicPr>
          <p:nvPr/>
        </p:nvPicPr>
        <p:blipFill>
          <a:blip r:embed="rId4"/>
          <a:stretch>
            <a:fillRect/>
          </a:stretch>
        </p:blipFill>
        <p:spPr>
          <a:xfrm>
            <a:off x="769714" y="2436265"/>
            <a:ext cx="4955403" cy="337747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D605F60F-DCF2-FEBB-F147-A57EA69B55BF}"/>
              </a:ext>
            </a:extLst>
          </p:cNvPr>
          <p:cNvPicPr>
            <a:picLocks noChangeAspect="1"/>
          </p:cNvPicPr>
          <p:nvPr/>
        </p:nvPicPr>
        <p:blipFill>
          <a:blip r:embed="rId3"/>
          <a:stretch>
            <a:fillRect/>
          </a:stretch>
        </p:blipFill>
        <p:spPr>
          <a:xfrm>
            <a:off x="194586" y="725149"/>
            <a:ext cx="11588270" cy="560249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6D93A69-CE62-EFB8-604D-7BB1647A2CE3}"/>
              </a:ext>
            </a:extLst>
          </p:cNvPr>
          <p:cNvPicPr>
            <a:picLocks noChangeAspect="1"/>
          </p:cNvPicPr>
          <p:nvPr/>
        </p:nvPicPr>
        <p:blipFill>
          <a:blip r:embed="rId3"/>
          <a:stretch>
            <a:fillRect/>
          </a:stretch>
        </p:blipFill>
        <p:spPr>
          <a:xfrm>
            <a:off x="265176" y="816976"/>
            <a:ext cx="11622024" cy="578499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06ACF91C-1A19-F529-A359-E9CBA54FB96F}"/>
              </a:ext>
            </a:extLst>
          </p:cNvPr>
          <p:cNvPicPr>
            <a:picLocks noChangeAspect="1"/>
          </p:cNvPicPr>
          <p:nvPr/>
        </p:nvPicPr>
        <p:blipFill>
          <a:blip r:embed="rId3"/>
          <a:stretch>
            <a:fillRect/>
          </a:stretch>
        </p:blipFill>
        <p:spPr>
          <a:xfrm>
            <a:off x="283464" y="802816"/>
            <a:ext cx="11567160" cy="5880847"/>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32202"/>
          </a:xfrm>
          <a:prstGeom prst="rect">
            <a:avLst/>
          </a:prstGeom>
          <a:noFill/>
        </p:spPr>
        <p:txBody>
          <a:bodyPr wrap="square" rtlCol="0">
            <a:spAutoFit/>
          </a:bodyPr>
          <a:lstStyle/>
          <a:p>
            <a:r>
              <a:rPr lang="en-IN" sz="1600" dirty="0"/>
              <a:t>The proposed </a:t>
            </a:r>
            <a:r>
              <a:rPr lang="en-IN" sz="1600" b="1" dirty="0" err="1"/>
              <a:t>VendorSetu</a:t>
            </a:r>
            <a:r>
              <a:rPr lang="en-IN" sz="1600" b="1" dirty="0"/>
              <a:t> AI</a:t>
            </a:r>
            <a:r>
              <a:rPr lang="en-IN" sz="1600" dirty="0"/>
              <a:t> stands out by combining </a:t>
            </a:r>
            <a:r>
              <a:rPr lang="en-IN" sz="1600" b="1" dirty="0"/>
              <a:t>Agentic AI, RAG, and business personalization</a:t>
            </a:r>
            <a:r>
              <a:rPr lang="en-IN" sz="1600" dirty="0"/>
              <a:t> into a single digitalization assistant.</a:t>
            </a:r>
          </a:p>
          <a:p>
            <a:endParaRPr lang="en-IN" sz="1600" dirty="0"/>
          </a:p>
          <a:p>
            <a:r>
              <a:rPr lang="en-IN" sz="1600" b="1" dirty="0"/>
              <a:t>Task-Oriented Intelligence</a:t>
            </a:r>
            <a:r>
              <a:rPr lang="en-IN" sz="1600" dirty="0"/>
              <a:t> – Handles different business needs such as profiles, UPI, SEO, marketing, and growth.</a:t>
            </a:r>
          </a:p>
          <a:p>
            <a:endParaRPr lang="en-IN" sz="1600" dirty="0"/>
          </a:p>
          <a:p>
            <a:r>
              <a:rPr lang="en-IN" sz="1600" b="1" dirty="0"/>
              <a:t>RAG-Based Accuracy</a:t>
            </a:r>
            <a:r>
              <a:rPr lang="en-IN" sz="1600" dirty="0"/>
              <a:t> – Retrieves relevant knowledge before generating responses, reducing unsupported information.</a:t>
            </a:r>
          </a:p>
          <a:p>
            <a:endParaRPr lang="en-IN" sz="1600" dirty="0"/>
          </a:p>
          <a:p>
            <a:r>
              <a:rPr lang="en-IN" sz="1600" b="1" dirty="0"/>
              <a:t>Hyperlocal Personalization</a:t>
            </a:r>
            <a:r>
              <a:rPr lang="en-IN" sz="1600" dirty="0"/>
              <a:t> – Uses the vendor's </a:t>
            </a:r>
            <a:r>
              <a:rPr lang="en-IN" sz="1600" b="1" dirty="0"/>
              <a:t>business type and location</a:t>
            </a:r>
            <a:r>
              <a:rPr lang="en-IN" sz="1600" dirty="0"/>
              <a:t> to provide relevant digital-growth suggestions.</a:t>
            </a:r>
          </a:p>
          <a:p>
            <a:endParaRPr lang="en-IN" sz="1600" dirty="0"/>
          </a:p>
          <a:p>
            <a:r>
              <a:rPr lang="en-IN" sz="1600" b="1" dirty="0"/>
              <a:t>Digital Payment Support</a:t>
            </a:r>
            <a:r>
              <a:rPr lang="en-IN" sz="1600" dirty="0"/>
              <a:t> – Provides practical guidance for </a:t>
            </a:r>
            <a:r>
              <a:rPr lang="en-IN" sz="1600" b="1" dirty="0"/>
              <a:t>UPI and QR-code onboarding</a:t>
            </a:r>
            <a:r>
              <a:rPr lang="en-IN" sz="1600" dirty="0"/>
              <a:t>.</a:t>
            </a:r>
          </a:p>
          <a:p>
            <a:endParaRPr lang="en-IN" sz="1600" dirty="0"/>
          </a:p>
          <a:p>
            <a:r>
              <a:rPr lang="en-IN" sz="1600" b="1" dirty="0"/>
              <a:t>Local Business Visibility</a:t>
            </a:r>
            <a:r>
              <a:rPr lang="en-IN" sz="1600" dirty="0"/>
              <a:t> – Helps vendors improve </a:t>
            </a:r>
            <a:r>
              <a:rPr lang="en-IN" sz="1600" b="1" dirty="0"/>
              <a:t>local SEO and online customer reach</a:t>
            </a:r>
            <a:r>
              <a:rPr lang="en-IN" sz="1600" dirty="0"/>
              <a:t>.</a:t>
            </a:r>
          </a:p>
          <a:p>
            <a:endParaRPr lang="en-IN" sz="1600" dirty="0"/>
          </a:p>
          <a:p>
            <a:r>
              <a:rPr lang="en-IN" sz="1600" b="1" dirty="0"/>
              <a:t>Multilingual Support</a:t>
            </a:r>
            <a:r>
              <a:rPr lang="en-IN" sz="1600" dirty="0"/>
              <a:t> – Provides simple guidance in </a:t>
            </a:r>
            <a:r>
              <a:rPr lang="en-IN" sz="1600" b="1" dirty="0"/>
              <a:t>Hindi, Hinglish, and English</a:t>
            </a:r>
            <a:r>
              <a:rPr lang="en-IN" sz="1600" dirty="0"/>
              <a:t>.</a:t>
            </a:r>
          </a:p>
          <a:p>
            <a:endParaRPr lang="en-IN" sz="1600" dirty="0"/>
          </a:p>
          <a:p>
            <a:r>
              <a:rPr lang="en-IN" sz="1600" b="1" dirty="0"/>
              <a:t>Responsible AI</a:t>
            </a:r>
            <a:r>
              <a:rPr lang="en-IN" sz="1600" dirty="0"/>
              <a:t> – Avoids fabricating government schemes, eligibility, prices, or guarantees.</a:t>
            </a:r>
          </a:p>
          <a:p>
            <a:endParaRPr lang="en-IN" sz="1600" dirty="0"/>
          </a:p>
          <a:p>
            <a:r>
              <a:rPr lang="en-IN" sz="1600" dirty="0"/>
              <a:t>This makes </a:t>
            </a:r>
            <a:r>
              <a:rPr lang="en-IN" sz="1600" b="1" dirty="0" err="1"/>
              <a:t>VendorSetu</a:t>
            </a:r>
            <a:r>
              <a:rPr lang="en-IN" sz="1600" b="1" dirty="0"/>
              <a:t> AI</a:t>
            </a:r>
            <a:r>
              <a:rPr lang="en-IN" sz="1600" dirty="0"/>
              <a:t> a practical and accessible </a:t>
            </a:r>
            <a:r>
              <a:rPr lang="en-IN" sz="1600" b="1" dirty="0"/>
              <a:t>digital business assistant for local vendors and micro-entrepreneurs</a:t>
            </a:r>
            <a:r>
              <a:rPr lang="en-IN" sz="1600" dirty="0"/>
              <a:t>, rather than just a general chatbot.</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b="1" u="sng" dirty="0">
                <a:solidFill>
                  <a:srgbClr val="2B3541"/>
                </a:solidFill>
                <a:latin typeface="Times New Roman"/>
                <a:ea typeface="Times New Roman"/>
                <a:cs typeface="Times New Roman"/>
                <a:sym typeface="Times New Roman"/>
              </a:rPr>
              <a:t>https://github.com/UPENDER2493/street-vendor-agent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IN" sz="2400" b="1" dirty="0"/>
              <a:t>Integration with Digital Marketplaces &amp; Online Platforms –</a:t>
            </a:r>
            <a:br>
              <a:rPr lang="en-IN" sz="2400" dirty="0"/>
            </a:br>
            <a:r>
              <a:rPr lang="en-IN" sz="2400" dirty="0"/>
              <a:t>The system can be integrated with online marketplaces and local business platforms to help vendors create and manage digital listings. This will improve their online visibility and enable them to reach more customers in the hyperlocal market.</a:t>
            </a:r>
          </a:p>
          <a:p>
            <a:pPr marL="457200" indent="-457200">
              <a:buAutoNum type="arabicPeriod"/>
            </a:pPr>
            <a:endParaRPr lang="en-IN" sz="2400" dirty="0"/>
          </a:p>
          <a:p>
            <a:r>
              <a:rPr lang="en-IN" sz="2400" b="1" dirty="0"/>
              <a:t>2. AI-Powered Voice Assistant &amp; Multilingual Support –</a:t>
            </a:r>
            <a:br>
              <a:rPr lang="en-IN" sz="2400" dirty="0"/>
            </a:br>
            <a:r>
              <a:rPr lang="en-IN" sz="2400" dirty="0"/>
              <a:t>Enhancing the system with voice-based interaction and support for multiple Indian languages will improve accessibility. Vendors can interact naturally in their preferred language, making digital guidance easier for users with limited digital literacy.</a:t>
            </a:r>
          </a:p>
          <a:p>
            <a:pPr marL="0" marR="0" lvl="0" indent="0" algn="l" rtl="0">
              <a:lnSpc>
                <a:spcPct val="162162"/>
              </a:lnSpc>
              <a:spcBef>
                <a:spcPts val="0"/>
              </a:spcBef>
              <a:spcAft>
                <a:spcPts val="0"/>
              </a:spcAft>
              <a:buClr>
                <a:srgbClr val="2B3541"/>
              </a:buClr>
              <a:buSzPts val="1850"/>
              <a:buFont typeface="Times New Roman"/>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B0AAF9FC-3406-6F2E-5BAD-1C7E978E436A}"/>
              </a:ext>
            </a:extLst>
          </p:cNvPr>
          <p:cNvPicPr>
            <a:picLocks noChangeAspect="1"/>
          </p:cNvPicPr>
          <p:nvPr/>
        </p:nvPicPr>
        <p:blipFill>
          <a:blip r:embed="rId2"/>
          <a:stretch>
            <a:fillRect/>
          </a:stretch>
        </p:blipFill>
        <p:spPr>
          <a:xfrm>
            <a:off x="1534783" y="917332"/>
            <a:ext cx="9122434" cy="573328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3" name="Picture 2">
            <a:extLst>
              <a:ext uri="{FF2B5EF4-FFF2-40B4-BE49-F238E27FC236}">
                <a16:creationId xmlns:a16="http://schemas.microsoft.com/office/drawing/2014/main" id="{AF6CA965-B7DF-3362-19F2-54AB48E23899}"/>
              </a:ext>
            </a:extLst>
          </p:cNvPr>
          <p:cNvPicPr>
            <a:picLocks noChangeAspect="1"/>
          </p:cNvPicPr>
          <p:nvPr/>
        </p:nvPicPr>
        <p:blipFill>
          <a:blip r:embed="rId2"/>
          <a:stretch>
            <a:fillRect/>
          </a:stretch>
        </p:blipFill>
        <p:spPr>
          <a:xfrm>
            <a:off x="176696" y="903499"/>
            <a:ext cx="12015304" cy="573504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1273</Words>
  <Application>Microsoft Office PowerPoint</Application>
  <PresentationFormat>Widescreen</PresentationFormat>
  <Paragraphs>124</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UPENDER RAJPUT</cp:lastModifiedBy>
  <cp:revision>3</cp:revision>
  <dcterms:created xsi:type="dcterms:W3CDTF">2025-07-08T05:06:56Z</dcterms:created>
  <dcterms:modified xsi:type="dcterms:W3CDTF">2026-09-10T17:33:44Z</dcterms:modified>
</cp:coreProperties>
</file>